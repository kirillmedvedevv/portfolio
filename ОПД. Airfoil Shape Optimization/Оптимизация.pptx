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4" r:id="rId9"/>
    <p:sldId id="275" r:id="rId10"/>
    <p:sldId id="262" r:id="rId11"/>
    <p:sldId id="270" r:id="rId12"/>
    <p:sldId id="273" r:id="rId13"/>
    <p:sldId id="264" r:id="rId14"/>
    <p:sldId id="265" r:id="rId15"/>
    <p:sldId id="271" r:id="rId16"/>
    <p:sldId id="272" r:id="rId17"/>
    <p:sldId id="276" r:id="rId18"/>
    <p:sldId id="266" r:id="rId19"/>
    <p:sldId id="269" r:id="rId20"/>
    <p:sldId id="267" r:id="rId21"/>
    <p:sldId id="268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B6F57-5971-4C94-9982-8E5EDBABF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920A83-BC03-4B64-AC37-A8214E51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D08CCB-E74C-4E67-9659-77424D8F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671AB3-DE7A-4021-90F1-130D9F499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B26F76-4643-4436-BCB2-10AEC822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36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CEAA0-03B9-4AD8-8FF9-F54A287A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0E335-35D5-42C4-829F-A175DC2CA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2C0E59-2DC1-47E1-941D-4D7FA7E4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A9C02D-C4B9-47B1-8977-1063125E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F1F1D6-6546-4985-A3B5-1AA03D19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804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92458-CB61-494C-83FA-FB989CC0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4099A0-C748-4547-8255-EAFC05FFC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6A84FB-3D91-46E3-AD52-F7763843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BE1A6C-A4C9-47F1-B784-07342DDA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53BB07-D855-46B6-84B6-B319B02C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619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5278F-D348-4C7C-8F74-7DA4C25B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BD8FB1-D039-4983-AB5E-4A764B06F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F54BB6-6CB5-4FA9-8127-9F86E4A52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8E2006-9540-4A95-9DF3-4CFC4132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2DB675-FC7B-4B8B-9664-9354F17E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60EA07-BB57-47B6-85A7-7073EAAD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69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7FAC88-1E4E-456A-980C-ACA7A83A6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919AF1-4D49-4552-8066-736F3B984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558D1A-16C7-4DBA-BA64-7A3FF4C42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9B60F2D-2A8B-4159-8822-0AFBF8093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884CFBF-5475-4321-A562-7286180FB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F8F8F4-5513-430B-A983-CC9829A6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CB1219B-2E5D-400C-96CA-324B6B684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0CB5D6A-27B2-4FAC-A8EC-944D202D0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99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117C1-2F3A-428D-B188-67E73AF1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3CFCCF-6F66-42E8-9D0C-AB4AD812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5EED19-EA8A-4926-9A44-78DE3DBF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0B60DE-CB76-47D6-90FB-67258BD4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90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960D7C-F26E-4563-AF3A-28AC9126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13120D2-49F0-467A-8E35-02FC08FD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79EF3A-4935-4844-8B80-3BD2B004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50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257562-BDC4-4AA1-ABA3-B2F8FA8BD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661B64-7C38-4A24-8BB2-E99A8048B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044B5C-3DCE-404D-B7C7-BCDE17DD2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0A0FA2-F8E3-4640-9C25-BBEEA473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FD752E-943E-43E0-AADD-86DA6390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D40803-6C2D-4994-A59B-71C53476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01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566B1-A824-4EB4-A910-2B9D29795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3F946D5-9447-4030-BC22-4CB5CCA5D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529D5B-105D-4AD2-90C1-D106C17CA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614047-1649-45D5-8013-77918C84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D3A0A1-1024-4CD6-99A9-6EACD5273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E7D177-8F51-46B8-8D84-E9717AD2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0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999FC-A895-4A9C-A2A4-A49560F4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6E5221-6896-47AA-8EF9-5D06C477A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057F4B-E71B-4B97-A8A6-32C1A52F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DBD4D-5C4B-40B8-ACB7-2E515A351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AC017E-B3E4-43D2-82A5-B3D36437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39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804214-23E0-4DF7-915E-A8218D0BF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9AD404-DE36-4420-86F6-07C1A2BBE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8BE335-584B-4720-9DAD-8CAB3154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1E2CF0-DA8D-47BE-88A6-BAC1921B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E0A423-802A-4E39-9168-78C1DEB0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76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D4BE0-568B-426F-89F1-AFCCFEAE7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4D948C-475A-45A7-B86C-4C6E228C5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C2C771-7963-4576-859D-FA3AEDD30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C3A8B-0AE9-4EC6-96C6-D885F9AA63EC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A0346-7679-4CAD-95EA-73B2665D2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892AFD-DDF7-4620-AEEB-F8AA026E4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9F870-36DB-4899-B89D-6020E22AF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69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23F6B1BB-1511-4D0D-8BB1-4FAF7F51A69E}"/>
              </a:ext>
            </a:extLst>
          </p:cNvPr>
          <p:cNvCxnSpPr>
            <a:cxnSpLocks/>
          </p:cNvCxnSpPr>
          <p:nvPr/>
        </p:nvCxnSpPr>
        <p:spPr>
          <a:xfrm>
            <a:off x="6636774" y="3018504"/>
            <a:ext cx="4031226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A241958-3B36-45AB-B7FB-AF864BF567A7}"/>
              </a:ext>
            </a:extLst>
          </p:cNvPr>
          <p:cNvCxnSpPr>
            <a:cxnSpLocks/>
          </p:cNvCxnSpPr>
          <p:nvPr/>
        </p:nvCxnSpPr>
        <p:spPr>
          <a:xfrm>
            <a:off x="2020529" y="3731343"/>
            <a:ext cx="8662993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289E9-9E32-4312-B530-2BFFA15B9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1576"/>
            <a:ext cx="9144000" cy="2387600"/>
          </a:xfrm>
        </p:spPr>
        <p:txBody>
          <a:bodyPr>
            <a:normAutofit fontScale="90000"/>
          </a:bodyPr>
          <a:lstStyle/>
          <a:p>
            <a:pPr algn="r"/>
            <a:r>
              <a:rPr lang="ru-RU" dirty="0"/>
              <a:t>Оптимизация аэродинамического профиля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37C1DE-DC4B-47C5-B78F-0BB1A1327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506" y="5147186"/>
            <a:ext cx="10404988" cy="1416331"/>
          </a:xfrm>
        </p:spPr>
        <p:txBody>
          <a:bodyPr>
            <a:normAutofit/>
          </a:bodyPr>
          <a:lstStyle/>
          <a:p>
            <a:pPr algn="l"/>
            <a:r>
              <a:rPr lang="ru-RU" sz="2000" dirty="0"/>
              <a:t>Над проектом работали:</a:t>
            </a:r>
          </a:p>
          <a:p>
            <a:r>
              <a:rPr lang="ru-RU" sz="2000" u="sng" dirty="0">
                <a:solidFill>
                  <a:schemeClr val="accent6">
                    <a:lumMod val="50000"/>
                  </a:schemeClr>
                </a:solidFill>
              </a:rPr>
              <a:t>Медведев Кирилл</a:t>
            </a:r>
            <a:r>
              <a:rPr lang="ru-RU" sz="2000" dirty="0">
                <a:solidFill>
                  <a:schemeClr val="accent6">
                    <a:lumMod val="50000"/>
                  </a:schemeClr>
                </a:solidFill>
              </a:rPr>
              <a:t>	 Юрченко Никита 	 Макаров Михаил</a:t>
            </a:r>
          </a:p>
          <a:p>
            <a:r>
              <a:rPr lang="ru-RU" sz="2000" dirty="0">
                <a:solidFill>
                  <a:schemeClr val="accent6">
                    <a:lumMod val="50000"/>
                  </a:schemeClr>
                </a:solidFill>
              </a:rPr>
              <a:t> Кожевникова Виктория                 Санин Даниил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3012AAF-4BB8-412D-82DE-D0AE00FCAD4E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822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56542CC-971C-4DA3-8556-FBA4601163BF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7772D9-99E6-4063-BE9C-E01B8A725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786" y="1202974"/>
            <a:ext cx="6452420" cy="320349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CE7F90C-ACE1-47A8-98BA-445075A50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23" y="3761395"/>
            <a:ext cx="5260259" cy="256955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BF027-140C-4470-AB7E-EC73D3642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82" y="221065"/>
            <a:ext cx="10515600" cy="1325563"/>
          </a:xfrm>
        </p:spPr>
        <p:txBody>
          <a:bodyPr/>
          <a:lstStyle/>
          <a:p>
            <a:r>
              <a:rPr lang="ru-RU" dirty="0"/>
              <a:t>Аэродинамический профиль</a:t>
            </a:r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19FD9D8A-54EB-4C27-B334-D9F445982EC2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5C8D1-4591-4932-98E5-E20DD1F7D0E1}"/>
              </a:ext>
            </a:extLst>
          </p:cNvPr>
          <p:cNvSpPr txBox="1"/>
          <p:nvPr/>
        </p:nvSpPr>
        <p:spPr>
          <a:xfrm>
            <a:off x="11213273" y="58342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99BF5-E368-48F7-8E6E-E8494EC6C0BE}"/>
              </a:ext>
            </a:extLst>
          </p:cNvPr>
          <p:cNvSpPr txBox="1"/>
          <p:nvPr/>
        </p:nvSpPr>
        <p:spPr>
          <a:xfrm>
            <a:off x="7182465" y="4218457"/>
            <a:ext cx="40308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R</a:t>
            </a:r>
            <a:r>
              <a:rPr lang="en-US" sz="2400" dirty="0"/>
              <a:t> </a:t>
            </a:r>
            <a:r>
              <a:rPr lang="ru-RU" sz="2400" dirty="0"/>
              <a:t>– аэродинамическая сила</a:t>
            </a:r>
          </a:p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C</a:t>
            </a:r>
            <a:r>
              <a:rPr lang="en-US" sz="2400" b="1" baseline="-25000" dirty="0">
                <a:solidFill>
                  <a:schemeClr val="accent6">
                    <a:lumMod val="50000"/>
                  </a:schemeClr>
                </a:solidFill>
              </a:rPr>
              <a:t>D</a:t>
            </a:r>
            <a:r>
              <a:rPr lang="en-US" sz="2400" dirty="0"/>
              <a:t> –</a:t>
            </a:r>
            <a:r>
              <a:rPr lang="ru-RU" sz="2400" dirty="0"/>
              <a:t> сила сопротивления</a:t>
            </a:r>
            <a:endParaRPr lang="en-US" sz="2400" dirty="0"/>
          </a:p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C</a:t>
            </a:r>
            <a:r>
              <a:rPr lang="en-US" sz="2400" b="1" baseline="-25000" dirty="0">
                <a:solidFill>
                  <a:schemeClr val="accent6">
                    <a:lumMod val="50000"/>
                  </a:schemeClr>
                </a:solidFill>
              </a:rPr>
              <a:t>L</a:t>
            </a:r>
            <a:r>
              <a:rPr lang="en-US" sz="2400" dirty="0"/>
              <a:t> – </a:t>
            </a:r>
            <a:r>
              <a:rPr lang="ru-RU" sz="2400" dirty="0"/>
              <a:t>подъемная сила</a:t>
            </a:r>
            <a:endParaRPr lang="en-US" sz="2400" dirty="0"/>
          </a:p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V</a:t>
            </a:r>
            <a:r>
              <a:rPr lang="en-US" sz="2400" dirty="0"/>
              <a:t> – </a:t>
            </a:r>
            <a:r>
              <a:rPr lang="ru-RU" sz="2400" dirty="0"/>
              <a:t>скорость движения</a:t>
            </a:r>
            <a:endParaRPr lang="en-US" sz="2400" dirty="0"/>
          </a:p>
          <a:p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α</a:t>
            </a:r>
            <a:r>
              <a:rPr lang="en-US" sz="2400" dirty="0"/>
              <a:t> – </a:t>
            </a:r>
            <a:r>
              <a:rPr lang="ru-RU" sz="2400" dirty="0"/>
              <a:t>угол атаки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D9574-610A-406E-B1C3-C767332326A7}"/>
              </a:ext>
            </a:extLst>
          </p:cNvPr>
          <p:cNvSpPr txBox="1"/>
          <p:nvPr/>
        </p:nvSpPr>
        <p:spPr>
          <a:xfrm>
            <a:off x="560023" y="1839792"/>
            <a:ext cx="45277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Необходимо найти оптимальную форму профиля, для которой аэродинамическое качество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K=C</a:t>
            </a:r>
            <a:r>
              <a:rPr lang="en-US" sz="2400" b="1" baseline="-25000" dirty="0">
                <a:solidFill>
                  <a:schemeClr val="accent6">
                    <a:lumMod val="50000"/>
                  </a:schemeClr>
                </a:solidFill>
              </a:rPr>
              <a:t>L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/C</a:t>
            </a:r>
            <a:r>
              <a:rPr lang="en-US" sz="2400" b="1" baseline="-25000" dirty="0">
                <a:solidFill>
                  <a:schemeClr val="accent6">
                    <a:lumMod val="50000"/>
                  </a:schemeClr>
                </a:solidFill>
              </a:rPr>
              <a:t>D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ru-RU" sz="2400" dirty="0"/>
              <a:t>будет максимальным</a:t>
            </a:r>
          </a:p>
        </p:txBody>
      </p:sp>
    </p:spTree>
    <p:extLst>
      <p:ext uri="{BB962C8B-B14F-4D97-AF65-F5344CB8AC3E}">
        <p14:creationId xmlns:p14="http://schemas.microsoft.com/office/powerpoint/2010/main" val="164126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9BF9B4C-554C-487E-B9CC-6A9C726C2402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88430-7AD4-495D-8DEE-DEE030D2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21227"/>
            <a:ext cx="10515600" cy="1325563"/>
          </a:xfrm>
        </p:spPr>
        <p:txBody>
          <a:bodyPr/>
          <a:lstStyle/>
          <a:p>
            <a:r>
              <a:rPr lang="ru-RU" dirty="0"/>
              <a:t>Цель и задачи проекта</a:t>
            </a:r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3AF7D933-4308-40CE-80C6-14A2C3CCC25B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4F7DF-7BB7-45D7-ABB7-1BC31E16ADA7}"/>
              </a:ext>
            </a:extLst>
          </p:cNvPr>
          <p:cNvSpPr txBox="1"/>
          <p:nvPr/>
        </p:nvSpPr>
        <p:spPr>
          <a:xfrm>
            <a:off x="11213273" y="58342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9209D-642A-421A-80BD-CC1FB0EB6D8F}"/>
              </a:ext>
            </a:extLst>
          </p:cNvPr>
          <p:cNvSpPr txBox="1"/>
          <p:nvPr/>
        </p:nvSpPr>
        <p:spPr>
          <a:xfrm>
            <a:off x="838198" y="1618739"/>
            <a:ext cx="97216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Задачи: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Изучить программное обеспечением </a:t>
            </a:r>
            <a:r>
              <a:rPr lang="en-US" sz="2400" dirty="0"/>
              <a:t>XFOIL</a:t>
            </a:r>
            <a:endParaRPr lang="ru-RU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Ознакомиться со способами параметризации профиля и представить аэродинамическое качество 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К</a:t>
            </a:r>
            <a:r>
              <a:rPr lang="ru-RU" sz="2400" dirty="0"/>
              <a:t> как функцию от параметров 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р</a:t>
            </a:r>
            <a:r>
              <a:rPr lang="ru-RU" sz="2400" b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, р</a:t>
            </a:r>
            <a:r>
              <a:rPr lang="ru-RU" sz="2400" b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,…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/>
              <a:t>Применяя алгоритмы оптимизации к функции</a:t>
            </a:r>
            <a:r>
              <a:rPr lang="en-US" sz="2400" dirty="0"/>
              <a:t> 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/K (K=f(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р</a:t>
            </a:r>
            <a:r>
              <a:rPr lang="ru-RU" sz="2400" b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,р</a:t>
            </a:r>
            <a:r>
              <a:rPr lang="ru-RU" sz="2400" b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,…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ru-RU" sz="2400" dirty="0"/>
              <a:t>определить форму профиля, для которой аэродинамическое качество будет наилучшим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2B06B-7921-4A12-9E79-6726ED8F6BF0}"/>
              </a:ext>
            </a:extLst>
          </p:cNvPr>
          <p:cNvSpPr txBox="1"/>
          <p:nvPr/>
        </p:nvSpPr>
        <p:spPr>
          <a:xfrm flipH="1">
            <a:off x="838198" y="4368344"/>
            <a:ext cx="9013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Цель:</a:t>
            </a:r>
          </a:p>
          <a:p>
            <a:r>
              <a:rPr lang="ru-RU" sz="2400" dirty="0"/>
              <a:t>Исследование методов оптимизации, итерационно находящих оптимальные значения параметров функции,</a:t>
            </a:r>
            <a:r>
              <a:rPr lang="en-US" sz="2400" dirty="0"/>
              <a:t> </a:t>
            </a:r>
            <a:r>
              <a:rPr lang="ru-RU" sz="2400" dirty="0"/>
              <a:t>которая определяет аэродинамическое качество профиля, рассчитываемое с использованием программы </a:t>
            </a:r>
            <a:r>
              <a:rPr lang="en-US" sz="2400" dirty="0"/>
              <a:t>XFOIL.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3626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6303816-A96A-4D86-8982-CAA02DCB98F4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28E44-DE8E-48A0-97F5-08636EC2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035"/>
            <a:ext cx="10515600" cy="1325563"/>
          </a:xfrm>
        </p:spPr>
        <p:txBody>
          <a:bodyPr/>
          <a:lstStyle/>
          <a:p>
            <a:r>
              <a:rPr lang="en-US" dirty="0"/>
              <a:t>XFOIL </a:t>
            </a:r>
            <a:r>
              <a:rPr lang="ru-RU" dirty="0"/>
              <a:t>и работа с ним</a:t>
            </a:r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BE2B195-FE73-4CB2-8A00-1BF4597BBC5D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8860D-0F2E-472A-9CEB-69ADC3C689E5}"/>
              </a:ext>
            </a:extLst>
          </p:cNvPr>
          <p:cNvSpPr txBox="1"/>
          <p:nvPr/>
        </p:nvSpPr>
        <p:spPr>
          <a:xfrm>
            <a:off x="11213273" y="58342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4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120AF1-723F-4DF9-AE76-9ADB35F3F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933" y="1467025"/>
            <a:ext cx="5059112" cy="3923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90A72B-CF86-4B0F-980D-FE603BDDB6F3}"/>
              </a:ext>
            </a:extLst>
          </p:cNvPr>
          <p:cNvSpPr txBox="1"/>
          <p:nvPr/>
        </p:nvSpPr>
        <p:spPr>
          <a:xfrm>
            <a:off x="838200" y="1694172"/>
            <a:ext cx="51197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XFOIL</a:t>
            </a:r>
            <a:r>
              <a:rPr lang="en-US" sz="2400" dirty="0"/>
              <a:t> – </a:t>
            </a:r>
            <a:r>
              <a:rPr lang="ru-RU" sz="2400" dirty="0"/>
              <a:t>программа для проектирования и анализа дозвуковых изолированных авиационных профилей.</a:t>
            </a:r>
          </a:p>
          <a:p>
            <a:endParaRPr lang="ru-RU" sz="2400" dirty="0"/>
          </a:p>
          <a:p>
            <a:r>
              <a:rPr lang="en-US" sz="2400" dirty="0"/>
              <a:t>XFOIL </a:t>
            </a:r>
            <a:r>
              <a:rPr lang="ru-RU" sz="2400" dirty="0"/>
              <a:t>позволяет рассчитывать основные аэродинамические характеристики профиля при заданных значениях числа Рейнольдса, для фиксированного угла атаки или диапазона углов атаки.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144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A06FD0-E0C1-47E9-ACC7-77426AFA2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38" y="1580598"/>
            <a:ext cx="4174321" cy="417432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D55724-A889-4B5D-ACC7-410A47A99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105" y="2590700"/>
            <a:ext cx="3729792" cy="372979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A694CFC-43EF-4BC6-ACE0-EEAC37E8D3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641" y="1543034"/>
            <a:ext cx="4174321" cy="417432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213273" y="58342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5</a:t>
            </a:r>
            <a:endParaRPr lang="ru-RU" sz="3600" dirty="0">
              <a:solidFill>
                <a:srgbClr val="00B050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Тестирование возможностей </a:t>
            </a:r>
            <a:r>
              <a:rPr lang="en-US" dirty="0"/>
              <a:t>XFOIL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761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213273" y="58342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Кривые Безье</a:t>
            </a: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CFF60A81-0B08-46CF-AC50-0814B9E161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356852" cy="135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204742-AD34-44C2-96E7-184620F883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755"/>
          <a:stretch/>
        </p:blipFill>
        <p:spPr>
          <a:xfrm>
            <a:off x="838200" y="1458009"/>
            <a:ext cx="3309246" cy="23389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1EBCC0-B56F-40B7-8508-B9995143BB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94"/>
          <a:stretch/>
        </p:blipFill>
        <p:spPr>
          <a:xfrm>
            <a:off x="1599165" y="4052003"/>
            <a:ext cx="3313369" cy="23389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63292C-5D4D-4AC1-8874-ACB9ED32A48D}"/>
                  </a:ext>
                </a:extLst>
              </p:cNvPr>
              <p:cNvSpPr txBox="1"/>
              <p:nvPr/>
            </p:nvSpPr>
            <p:spPr>
              <a:xfrm>
                <a:off x="5655273" y="1249860"/>
                <a:ext cx="5894755" cy="50942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400" dirty="0"/>
                  <a:t>Кривые Безье – параметрические функции.</a:t>
                </a:r>
              </a:p>
              <a:p>
                <a:endParaRPr lang="ru-RU" sz="2400" dirty="0"/>
              </a:p>
              <a:p>
                <a:r>
                  <a:rPr lang="ru-RU" sz="2400" dirty="0"/>
                  <a:t>Кривая Безье </a:t>
                </a:r>
                <a:r>
                  <a:rPr lang="en-US" sz="2400" dirty="0"/>
                  <a:t>n</a:t>
                </a:r>
                <a:r>
                  <a:rPr lang="ru-RU" sz="2400" dirty="0"/>
                  <a:t>-ой степени:</a:t>
                </a:r>
                <a:endParaRPr lang="en-US" sz="2400" dirty="0"/>
              </a:p>
              <a:p>
                <a:endParaRPr lang="ru-RU" sz="2400" dirty="0"/>
              </a:p>
              <a:p>
                <a:pPr algn="ctr"/>
                <a:r>
                  <a:rPr lang="en-US" sz="2400" dirty="0"/>
                  <a:t>P(t) = </a:t>
                </a:r>
                <a:r>
                  <a:rPr lang="el-GR" sz="2400" dirty="0"/>
                  <a:t>Σ</a:t>
                </a:r>
                <a:r>
                  <a:rPr lang="en-US" sz="2400" baseline="-25000" dirty="0"/>
                  <a:t>i=0</a:t>
                </a:r>
                <a:r>
                  <a:rPr lang="en-US" sz="2400" baseline="30000" dirty="0"/>
                  <a:t>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</a:t>
                </a:r>
                <a:r>
                  <a:rPr lang="en-US" sz="2400" baseline="-25000" dirty="0" err="1"/>
                  <a:t>i,n</a:t>
                </a:r>
                <a:r>
                  <a:rPr lang="en-US" sz="2400" dirty="0"/>
                  <a:t>(t)P</a:t>
                </a:r>
                <a:r>
                  <a:rPr lang="en-US" sz="2400" baseline="-25000" dirty="0"/>
                  <a:t>i</a:t>
                </a:r>
                <a:r>
                  <a:rPr lang="en-US" sz="2400" dirty="0"/>
                  <a:t>, 0 ≤ t ≤ 1</a:t>
                </a:r>
              </a:p>
              <a:p>
                <a:pPr algn="ctr"/>
                <a:endParaRPr lang="en-US" sz="2400" dirty="0"/>
              </a:p>
              <a:p>
                <a:pPr algn="ctr"/>
                <a:r>
                  <a:rPr lang="en-US" sz="2400" dirty="0" err="1"/>
                  <a:t>B</a:t>
                </a:r>
                <a:r>
                  <a:rPr lang="en-US" sz="2400" baseline="-25000" dirty="0" err="1"/>
                  <a:t>i,n</a:t>
                </a:r>
                <a:r>
                  <a:rPr lang="en-US" sz="2400" dirty="0"/>
                  <a:t>(t)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0" dirty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ru-RU" sz="2400" i="0" dirty="0">
                            <a:latin typeface="Cambria Math" panose="02040503050406030204" pitchFamily="18" charset="0"/>
                          </a:rPr>
                          <m:t>ⅈ!</m:t>
                        </m:r>
                        <m:d>
                          <m:dPr>
                            <m:ctrlPr>
                              <a:rPr lang="ru-RU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0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ru-RU" sz="2400" i="0" dirty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sz="2400" dirty="0" err="1"/>
                  <a:t>t</a:t>
                </a:r>
                <a:r>
                  <a:rPr lang="en-US" sz="2400" baseline="30000" dirty="0" err="1"/>
                  <a:t>i</a:t>
                </a:r>
                <a:r>
                  <a:rPr lang="en-US" sz="2400" baseline="30000" dirty="0"/>
                  <a:t> </a:t>
                </a:r>
                <a:r>
                  <a:rPr lang="en-US" sz="2400" dirty="0"/>
                  <a:t>(1-t)</a:t>
                </a:r>
                <a:r>
                  <a:rPr lang="en-US" sz="2400" baseline="30000" dirty="0"/>
                  <a:t>n-1</a:t>
                </a:r>
                <a:r>
                  <a:rPr lang="en-US" sz="2400" dirty="0"/>
                  <a:t> </a:t>
                </a:r>
              </a:p>
              <a:p>
                <a:pPr algn="ctr"/>
                <a:endParaRPr lang="en-US" sz="2400" dirty="0"/>
              </a:p>
              <a:p>
                <a:r>
                  <a:rPr lang="ru-RU" sz="2400" dirty="0"/>
                  <a:t>Пример - кривая второй степени:</a:t>
                </a:r>
              </a:p>
              <a:p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P(t) = (1-t)</a:t>
                </a:r>
                <a:r>
                  <a:rPr lang="en-US" sz="2400" baseline="30000" dirty="0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P</a:t>
                </a:r>
                <a:r>
                  <a:rPr lang="en-US" sz="2400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0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+ 2t(1-t)P</a:t>
                </a:r>
                <a:r>
                  <a:rPr lang="en-US" sz="2400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+ t</a:t>
                </a:r>
                <a:r>
                  <a:rPr lang="en-US" sz="2400" baseline="30000" dirty="0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P</a:t>
                </a:r>
                <a:r>
                  <a:rPr lang="en-US" sz="2400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</a:p>
              <a:p>
                <a:endParaRPr lang="en-US" sz="2400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x(t) = (1-t)</a:t>
                </a:r>
                <a:r>
                  <a:rPr lang="en-US" sz="2400" baseline="30000" dirty="0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x</a:t>
                </a:r>
                <a:r>
                  <a:rPr lang="en-US" sz="2400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0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+ 2t(1-t)x</a:t>
                </a:r>
                <a:r>
                  <a:rPr lang="en-US" sz="2400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+ t</a:t>
                </a:r>
                <a:r>
                  <a:rPr lang="en-US" sz="2400" baseline="30000" dirty="0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x</a:t>
                </a:r>
                <a:r>
                  <a:rPr lang="en-US" sz="2400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</a:p>
              <a:p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y(t) = (1-t)</a:t>
                </a:r>
                <a:r>
                  <a:rPr lang="en-US" sz="2400" baseline="30000" dirty="0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y</a:t>
                </a:r>
                <a:r>
                  <a:rPr lang="en-US" sz="2400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0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+ 2t(1-t)y</a:t>
                </a:r>
                <a:r>
                  <a:rPr lang="en-US" sz="2400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+ t</a:t>
                </a:r>
                <a:r>
                  <a:rPr lang="en-US" sz="2400" baseline="30000" dirty="0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y</a:t>
                </a:r>
                <a:r>
                  <a:rPr lang="en-US" sz="2400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  <a:endParaRPr lang="en-US" sz="24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63292C-5D4D-4AC1-8874-ACB9ED32A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273" y="1249860"/>
                <a:ext cx="5894755" cy="5094215"/>
              </a:xfrm>
              <a:prstGeom prst="rect">
                <a:avLst/>
              </a:prstGeom>
              <a:blipFill>
                <a:blip r:embed="rId3"/>
                <a:stretch>
                  <a:fillRect l="-1655" t="-957" r="-620" b="-16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37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91CD5D-7B91-4585-92F8-8B38C6F76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243" y="1902296"/>
            <a:ext cx="5321988" cy="393198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364286-1C60-4AC8-9C91-C8ACE203D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432" y="2666630"/>
            <a:ext cx="4833578" cy="357114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213273" y="58342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199" y="255035"/>
            <a:ext cx="107937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Параметризации профиля кривыми Безье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29EE2-1160-4B9B-8271-EA1277B54988}"/>
              </a:ext>
            </a:extLst>
          </p:cNvPr>
          <p:cNvSpPr txBox="1"/>
          <p:nvPr/>
        </p:nvSpPr>
        <p:spPr>
          <a:xfrm>
            <a:off x="838199" y="1835633"/>
            <a:ext cx="5642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/>
              <a:t>Кривая Безье 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7-ой</a:t>
            </a:r>
            <a:r>
              <a:rPr lang="ru-RU" sz="2400" dirty="0"/>
              <a:t> степени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/>
              <a:t>Количество свободных параметров: 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2968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213273" y="58342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199" y="255035"/>
            <a:ext cx="107937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Ограничения </a:t>
            </a:r>
            <a:r>
              <a:rPr lang="en-US" dirty="0"/>
              <a:t>XFOIL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2AEF5A-EA56-4C30-A578-DA58ABADE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069" y="1973945"/>
            <a:ext cx="5001747" cy="38603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5E4CF4-A4A2-4718-A03F-5F605BDB917F}"/>
              </a:ext>
            </a:extLst>
          </p:cNvPr>
          <p:cNvSpPr txBox="1"/>
          <p:nvPr/>
        </p:nvSpPr>
        <p:spPr>
          <a:xfrm>
            <a:off x="1192162" y="1978628"/>
            <a:ext cx="42942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/>
              <a:t>Не все профили, полученные с помощью кривых Безье, удавалось проанализировать в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XFOIL </a:t>
            </a:r>
            <a:endParaRPr lang="ru-RU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/>
              <a:t>Программа прерывала свою работу, было необходимо вручную обходить некоторые профили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/>
              <a:t>Решение: установка таймера на 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2 секунды</a:t>
            </a:r>
            <a:r>
              <a:rPr lang="ru-RU" sz="2000" dirty="0"/>
              <a:t> - за это время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XFOIL </a:t>
            </a:r>
            <a:r>
              <a:rPr lang="ru-RU" sz="2000" dirty="0"/>
              <a:t>может рассчитать характеристики пригодного профиля</a:t>
            </a:r>
          </a:p>
        </p:txBody>
      </p:sp>
    </p:spTree>
    <p:extLst>
      <p:ext uri="{BB962C8B-B14F-4D97-AF65-F5344CB8AC3E}">
        <p14:creationId xmlns:p14="http://schemas.microsoft.com/office/powerpoint/2010/main" val="992096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213273" y="58342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199" y="255035"/>
            <a:ext cx="107937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Проведение тестов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5E4CF4-A4A2-4718-A03F-5F605BDB917F}"/>
              </a:ext>
            </a:extLst>
          </p:cNvPr>
          <p:cNvSpPr txBox="1"/>
          <p:nvPr/>
        </p:nvSpPr>
        <p:spPr>
          <a:xfrm>
            <a:off x="1922206" y="1774558"/>
            <a:ext cx="8347587" cy="448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анализа изучаемых алгоритмов были проведены тесты, использующие следующие заданные значения:</a:t>
            </a:r>
          </a:p>
          <a:p>
            <a:endParaRPr lang="ru-RU" sz="2400" dirty="0"/>
          </a:p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 = 10</a:t>
            </a:r>
            <a:r>
              <a:rPr lang="en-US" sz="2000" b="1" baseline="30000" dirty="0">
                <a:solidFill>
                  <a:schemeClr val="accent6">
                    <a:lumMod val="50000"/>
                  </a:schemeClr>
                </a:solidFill>
              </a:rPr>
              <a:t>6</a:t>
            </a:r>
            <a:endParaRPr lang="ru-RU" sz="2000" b="1" baseline="300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endParaRPr lang="ru-RU" sz="2000" baseline="30000" dirty="0"/>
          </a:p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M = 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0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α = 0</a:t>
            </a:r>
            <a:endParaRPr lang="ru-RU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endParaRPr lang="en-US" sz="2000" dirty="0"/>
          </a:p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2000" dirty="0"/>
              <a:t> </a:t>
            </a:r>
            <a:r>
              <a:rPr lang="ru-RU" sz="2000" dirty="0"/>
              <a:t>фиксированных координаты по оси х</a:t>
            </a:r>
          </a:p>
          <a:p>
            <a:pPr algn="ctr"/>
            <a:endParaRPr lang="ru-RU" sz="2000" dirty="0"/>
          </a:p>
          <a:p>
            <a:pPr algn="ctr"/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ru-RU" sz="2000" dirty="0"/>
              <a:t> фиксированных координаты по оси у</a:t>
            </a:r>
          </a:p>
          <a:p>
            <a:pPr algn="ctr"/>
            <a:endParaRPr lang="ru-RU" sz="2000" dirty="0"/>
          </a:p>
          <a:p>
            <a:pPr algn="ctr"/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12</a:t>
            </a:r>
            <a:r>
              <a:rPr lang="ru-RU" sz="2000" dirty="0"/>
              <a:t> параметров по оси у и 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5 </a:t>
            </a:r>
            <a:r>
              <a:rPr lang="ru-RU" sz="2000" dirty="0"/>
              <a:t>параметров по оси х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835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1" y="-13057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Методы оптимизации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2712D-295D-4021-BFAD-0F98BEBC8D76}"/>
              </a:ext>
            </a:extLst>
          </p:cNvPr>
          <p:cNvSpPr txBox="1"/>
          <p:nvPr/>
        </p:nvSpPr>
        <p:spPr>
          <a:xfrm>
            <a:off x="3904791" y="1349765"/>
            <a:ext cx="4382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Библиотека </a:t>
            </a:r>
            <a:r>
              <a:rPr lang="en-US" sz="2400" dirty="0"/>
              <a:t>SciPy – </a:t>
            </a:r>
            <a:r>
              <a:rPr lang="en-US" sz="2400" dirty="0" err="1"/>
              <a:t>Nelder</a:t>
            </a:r>
            <a:r>
              <a:rPr lang="en-US" sz="2400" dirty="0"/>
              <a:t>-Mead</a:t>
            </a:r>
            <a:endParaRPr lang="ru-RU" sz="2400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75B4E1DF-0D1E-409A-B089-13DB8F0F8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23" y="1971278"/>
            <a:ext cx="5315603" cy="406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E4A3D0-861A-4739-ABDD-3A3EA8AD936B}"/>
              </a:ext>
            </a:extLst>
          </p:cNvPr>
          <p:cNvSpPr txBox="1"/>
          <p:nvPr/>
        </p:nvSpPr>
        <p:spPr>
          <a:xfrm>
            <a:off x="6316376" y="2419349"/>
            <a:ext cx="521113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ru-RU" sz="2000" dirty="0"/>
              <a:t>Метод </a:t>
            </a:r>
            <a:r>
              <a:rPr lang="ru-RU" sz="2000" b="1" dirty="0" err="1">
                <a:solidFill>
                  <a:schemeClr val="accent6">
                    <a:lumMod val="50000"/>
                  </a:schemeClr>
                </a:solidFill>
              </a:rPr>
              <a:t>Нелдера-Мида</a:t>
            </a:r>
            <a:r>
              <a:rPr lang="ru-RU" sz="2000" dirty="0"/>
              <a:t> — метод безусловной оптимизации, не использующий производной функции, а поэтому легко применимый  к негладким и/или зашумлённым функциям.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ru-RU" sz="2000" dirty="0"/>
              <a:t>Суть метода заключается в последовательном перемещении и деформировании 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симплекса </a:t>
            </a:r>
            <a:r>
              <a:rPr lang="ru-RU" sz="2000" dirty="0"/>
              <a:t>вокруг точки экстремума.</a:t>
            </a:r>
          </a:p>
        </p:txBody>
      </p:sp>
    </p:spTree>
    <p:extLst>
      <p:ext uri="{BB962C8B-B14F-4D97-AF65-F5344CB8AC3E}">
        <p14:creationId xmlns:p14="http://schemas.microsoft.com/office/powerpoint/2010/main" val="247171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D78A99A-240E-4830-BF3A-00925BF1D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547" y="2446519"/>
            <a:ext cx="3634836" cy="363483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8338C0-E80A-4329-A13D-512D968D9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852" y="3234838"/>
            <a:ext cx="3284294" cy="328429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747709-31E6-495A-A44D-6250042047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39" y="2549615"/>
            <a:ext cx="4460711" cy="334553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-1031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28555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11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Методы оптимизации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2712D-295D-4021-BFAD-0F98BEBC8D76}"/>
              </a:ext>
            </a:extLst>
          </p:cNvPr>
          <p:cNvSpPr txBox="1"/>
          <p:nvPr/>
        </p:nvSpPr>
        <p:spPr>
          <a:xfrm>
            <a:off x="3709064" y="1349765"/>
            <a:ext cx="4773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Nelder</a:t>
            </a:r>
            <a:r>
              <a:rPr lang="en-US" sz="2400" dirty="0"/>
              <a:t>-Mead</a:t>
            </a:r>
            <a:r>
              <a:rPr lang="ru-RU" sz="2400" dirty="0"/>
              <a:t>: локальный минимум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C8406-3F2F-49B4-B2E4-918CE25F7787}"/>
              </a:ext>
            </a:extLst>
          </p:cNvPr>
          <p:cNvSpPr txBox="1"/>
          <p:nvPr/>
        </p:nvSpPr>
        <p:spPr>
          <a:xfrm>
            <a:off x="4606093" y="2964728"/>
            <a:ext cx="31540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Минимизируемая функция</a:t>
            </a:r>
          </a:p>
          <a:p>
            <a:pPr algn="ctr"/>
            <a:r>
              <a:rPr lang="ru-RU" sz="2000" dirty="0"/>
              <a:t>2 переменных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AF52B-771C-4DAC-83BB-C2008DB98ABE}"/>
              </a:ext>
            </a:extLst>
          </p:cNvPr>
          <p:cNvSpPr txBox="1"/>
          <p:nvPr/>
        </p:nvSpPr>
        <p:spPr>
          <a:xfrm>
            <a:off x="1085134" y="2070754"/>
            <a:ext cx="32678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История сходимости метода</a:t>
            </a:r>
          </a:p>
          <a:p>
            <a:pPr algn="ctr"/>
            <a:r>
              <a:rPr lang="ru-RU" sz="2000" dirty="0"/>
              <a:t>для функции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A4DCC-4A34-4A6E-A7B4-91EBA320AD75}"/>
              </a:ext>
            </a:extLst>
          </p:cNvPr>
          <p:cNvSpPr txBox="1"/>
          <p:nvPr/>
        </p:nvSpPr>
        <p:spPr>
          <a:xfrm>
            <a:off x="6336895" y="1989504"/>
            <a:ext cx="6098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История сходимости метода</a:t>
            </a:r>
          </a:p>
          <a:p>
            <a:pPr algn="ctr"/>
            <a:r>
              <a:rPr lang="ru-RU" sz="2000" dirty="0"/>
              <a:t>для профиля</a:t>
            </a:r>
          </a:p>
        </p:txBody>
      </p:sp>
    </p:spTree>
    <p:extLst>
      <p:ext uri="{BB962C8B-B14F-4D97-AF65-F5344CB8AC3E}">
        <p14:creationId xmlns:p14="http://schemas.microsoft.com/office/powerpoint/2010/main" val="1850587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-1142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12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Методы оптимизации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42E1E-B6D2-4FCF-A597-BD017BAC407F}"/>
              </a:ext>
            </a:extLst>
          </p:cNvPr>
          <p:cNvSpPr txBox="1"/>
          <p:nvPr/>
        </p:nvSpPr>
        <p:spPr>
          <a:xfrm>
            <a:off x="3793702" y="1348622"/>
            <a:ext cx="4604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Метод статистического градиента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55305C8-1513-42FF-BD60-CE771E0DE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549" y="2589428"/>
            <a:ext cx="4721657" cy="268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91C6DB-B00E-47FB-B943-3255B18851FB}"/>
                  </a:ext>
                </a:extLst>
              </p:cNvPr>
              <p:cNvSpPr txBox="1"/>
              <p:nvPr/>
            </p:nvSpPr>
            <p:spPr>
              <a:xfrm>
                <a:off x="677085" y="1958221"/>
                <a:ext cx="6233235" cy="3946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ru-RU" sz="2000" dirty="0"/>
                  <a:t>Из исходного состояния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ru-RU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ru-RU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</m:e>
                    </m:acc>
                  </m:oMath>
                </a14:m>
                <a:r>
                  <a:rPr lang="ru-RU" sz="2000" dirty="0"/>
                  <a:t> делаем 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m </a:t>
                </a:r>
                <a:r>
                  <a:rPr lang="ru-RU" sz="2000" dirty="0"/>
                  <a:t>независимых проб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𝐠</m:t>
                    </m:r>
                    <m:r>
                      <a: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b="1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1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ru-RU" sz="2000" b="1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sz="2000" dirty="0"/>
                  <a:t> в 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m</a:t>
                </a:r>
                <a:r>
                  <a:rPr lang="en-US" sz="2000" dirty="0"/>
                  <a:t> </a:t>
                </a:r>
                <a:r>
                  <a:rPr lang="ru-RU" sz="2000" dirty="0"/>
                  <a:t>случайных направлениях и вычисляем значения минимизируемой функции в соответствующих точках.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ru-RU" sz="2000" dirty="0"/>
                  <a:t>Для каждой пробы запоминаем приращение функции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𝚫</m:t>
                    </m:r>
                    <m:r>
                      <a:rPr lang="ru-RU" sz="2000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sz="2000" b="1" i="0" baseline="-250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ⅈ</m:t>
                    </m:r>
                  </m:oMath>
                </a14:m>
                <a:r>
                  <a:rPr lang="ru-RU" sz="2000" b="1" baseline="-250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ru-RU" sz="2000" dirty="0"/>
                  <a:t>и формируем векторную </a:t>
                </a:r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сумму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𝚫</m:t>
                    </m:r>
                    <m:acc>
                      <m:accPr>
                        <m:chr m:val="̅"/>
                        <m:ctrlP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  <m:r>
                      <a:rPr lang="ru-RU" sz="2000" b="1" i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sz="2000" b="1" i="0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  <m:r>
                          <a:rPr lang="ru-RU" sz="2000" b="1" i="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sz="2000" b="1" i="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ru-RU" sz="2000" b="1" i="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acc>
                          <m:accPr>
                            <m:chr m:val="̅"/>
                            <m:ctrlPr>
                              <a:rPr lang="ru-RU" sz="2000" b="1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sz="2000" b="1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1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𝝃</m:t>
                                </m:r>
                              </m:e>
                              <m:sub>
                                <m:r>
                                  <a:rPr lang="en-US" sz="2000" b="1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acc>
                      </m:e>
                    </m:nary>
                  </m:oMath>
                </a14:m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sz="2000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𝚫</m:t>
                    </m:r>
                    <m:r>
                      <a:rPr lang="ru-RU" sz="2000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sz="2000" b="1" baseline="-250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ⅈ</m:t>
                    </m:r>
                  </m:oMath>
                </a14:m>
                <a:endParaRPr lang="ru-RU" sz="2000" b="1" baseline="-250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ru-RU" sz="2000" dirty="0"/>
                  <a:t>В пределе при 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m</a:t>
                </a:r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ru-RU" sz="2000" dirty="0"/>
                  <a:t>направление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𝚫</m:t>
                    </m:r>
                    <m:acc>
                      <m:accPr>
                        <m:chr m:val="̅"/>
                        <m:ctrlP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</m:oMath>
                </a14:m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ru-RU" sz="2000" dirty="0"/>
                  <a:t>совпадает с направлением градиента функции. При конечном </a:t>
                </a:r>
                <a:r>
                  <a:rPr lang="en-US" sz="2000" dirty="0"/>
                  <a:t>m </a:t>
                </a:r>
                <a:r>
                  <a:rPr lang="ru-RU" sz="2000" dirty="0"/>
                  <a:t>вектор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𝜟</m:t>
                    </m:r>
                    <m:acc>
                      <m:accPr>
                        <m:chr m:val="̅"/>
                        <m:ctrlP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</m:oMath>
                </a14:m>
                <a:r>
                  <a:rPr lang="ru-RU" sz="2000" b="1" i="1" dirty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000" dirty="0"/>
                  <a:t>представляет собой статистическую оценку направления градиента.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ru-RU" sz="2000" dirty="0"/>
                  <a:t>В направлении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𝚫</m:t>
                    </m:r>
                    <m:acc>
                      <m:accPr>
                        <m:chr m:val="̅"/>
                        <m:ctrlP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</m:oMath>
                </a14:m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ru-RU" sz="2000" dirty="0"/>
                  <a:t>делаем рабочий шаг.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91C6DB-B00E-47FB-B943-3255B1885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85" y="1958221"/>
                <a:ext cx="6233235" cy="3946658"/>
              </a:xfrm>
              <a:prstGeom prst="rect">
                <a:avLst/>
              </a:prstGeom>
              <a:blipFill>
                <a:blip r:embed="rId3"/>
                <a:stretch>
                  <a:fillRect l="-2444" r="-1564" b="-20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627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18277B9-C5C3-4E89-B868-72757BF9B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93" y="1337595"/>
            <a:ext cx="4657279" cy="465727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382F70-A5AE-47FC-9083-35317049E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42815"/>
            <a:ext cx="5236491" cy="3927368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13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Методы оптимизации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42E1E-B6D2-4FCF-A597-BD017BAC407F}"/>
              </a:ext>
            </a:extLst>
          </p:cNvPr>
          <p:cNvSpPr txBox="1"/>
          <p:nvPr/>
        </p:nvSpPr>
        <p:spPr>
          <a:xfrm>
            <a:off x="2059452" y="1335404"/>
            <a:ext cx="8431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Метод статистического градиента – глобальная модификация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999BC-30C7-44F6-ACE6-A9D6378D0720}"/>
              </a:ext>
            </a:extLst>
          </p:cNvPr>
          <p:cNvSpPr txBox="1"/>
          <p:nvPr/>
        </p:nvSpPr>
        <p:spPr>
          <a:xfrm>
            <a:off x="987941" y="5634229"/>
            <a:ext cx="4781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Минимизируемая функция 2 переменных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36AAA-FC32-4496-9A50-B9B5C81DF3A1}"/>
              </a:ext>
            </a:extLst>
          </p:cNvPr>
          <p:cNvSpPr txBox="1"/>
          <p:nvPr/>
        </p:nvSpPr>
        <p:spPr>
          <a:xfrm>
            <a:off x="7080336" y="2210385"/>
            <a:ext cx="3267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История сходимости метода</a:t>
            </a:r>
          </a:p>
        </p:txBody>
      </p:sp>
    </p:spTree>
    <p:extLst>
      <p:ext uri="{BB962C8B-B14F-4D97-AF65-F5344CB8AC3E}">
        <p14:creationId xmlns:p14="http://schemas.microsoft.com/office/powerpoint/2010/main" val="2685455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14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71EE0-76CB-4472-B2CD-1B6F0D2D3C8C}"/>
              </a:ext>
            </a:extLst>
          </p:cNvPr>
          <p:cNvSpPr txBox="1"/>
          <p:nvPr/>
        </p:nvSpPr>
        <p:spPr>
          <a:xfrm>
            <a:off x="4476068" y="1370654"/>
            <a:ext cx="3239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Генетический алгоритм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B783E-83D4-48E8-A44C-1EC5086381C8}"/>
              </a:ext>
            </a:extLst>
          </p:cNvPr>
          <p:cNvSpPr txBox="1"/>
          <p:nvPr/>
        </p:nvSpPr>
        <p:spPr>
          <a:xfrm>
            <a:off x="838199" y="1945604"/>
            <a:ext cx="5257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Всего имеется три набора генов, в которые помещены координаты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x,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</a:rPr>
              <a:t>yu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</a:rPr>
              <a:t>yl</a:t>
            </a:r>
            <a:r>
              <a:rPr lang="ru-RU" sz="2400" dirty="0"/>
              <a:t>. Их размерности равны 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6.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EBEC89-2A6E-45AD-8859-73D9A0B7D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116" y="3292724"/>
            <a:ext cx="4019487" cy="2969675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линия, График, диаграмма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68E151D7-32FF-D11A-C24C-9DE6D552D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123" y="2084041"/>
            <a:ext cx="4651761" cy="343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20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диаграмма, линия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89897AEB-3A2B-EDE0-6B10-C2BC7DF9C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76" y="2721591"/>
            <a:ext cx="5356899" cy="2739497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-35747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15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71EE0-76CB-4472-B2CD-1B6F0D2D3C8C}"/>
              </a:ext>
            </a:extLst>
          </p:cNvPr>
          <p:cNvSpPr txBox="1"/>
          <p:nvPr/>
        </p:nvSpPr>
        <p:spPr>
          <a:xfrm>
            <a:off x="2792211" y="1346645"/>
            <a:ext cx="6607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Генетический алгоритм: скрещивание и мутации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E4FB4F-5134-4973-875C-EBA844166158}"/>
                  </a:ext>
                </a:extLst>
              </p:cNvPr>
              <p:cNvSpPr txBox="1"/>
              <p:nvPr/>
            </p:nvSpPr>
            <p:spPr>
              <a:xfrm>
                <a:off x="769376" y="2169274"/>
                <a:ext cx="5562600" cy="4151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ru-RU" sz="2000" dirty="0"/>
                  <a:t>Ген каждого родителя задаёт точку в многомерном пространстве. С помощью двух точек строится многомерный параллелепипед, вершины которого являются потомками.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25%</a:t>
                </a:r>
                <a:r>
                  <a:rPr lang="ru-RU" sz="2000" dirty="0"/>
                  <a:t> популяции подвергается мутации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ru-RU" sz="2000" dirty="0"/>
                  <a:t>Мутация представляет собой вектор</a:t>
                </a:r>
                <a:r>
                  <a:rPr lang="en-US" sz="2000" dirty="0"/>
                  <a:t>, </a:t>
                </a:r>
                <a:r>
                  <a:rPr lang="ru-RU" sz="2000" dirty="0"/>
                  <a:t>компоненты которого заданы как нормальное распределение с нулевым матожиданием и некоторым  стандартным отклонением.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ru-RU" sz="2000" dirty="0"/>
                  <a:t>Для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ru-RU" sz="2000" b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</a:rPr>
                          <m:t>∆</m:t>
                        </m:r>
                      </m:e>
                    </m:acc>
                    <m:r>
                      <a:rPr lang="ru-RU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(0, 0.01, 3)</m:t>
                    </m:r>
                  </m:oMath>
                </a14:m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ru-RU" sz="2000" dirty="0"/>
                  <a:t>имеем например</a:t>
                </a:r>
                <a:endParaRPr lang="en-US" sz="2000" dirty="0"/>
              </a:p>
              <a:p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ru-RU" sz="2000" b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</a:rPr>
                          <m:t>∆</m:t>
                        </m:r>
                      </m:e>
                    </m:acc>
                  </m:oMath>
                </a14:m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= </a:t>
                </a:r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[-0.0053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1,</a:t>
                </a:r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 0.0102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8,</a:t>
                </a:r>
                <a:r>
                  <a:rPr lang="ru-RU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 0.00647]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E4FB4F-5134-4973-875C-EBA844166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76" y="2169274"/>
                <a:ext cx="5562600" cy="4151906"/>
              </a:xfrm>
              <a:prstGeom prst="rect">
                <a:avLst/>
              </a:prstGeom>
              <a:blipFill>
                <a:blip r:embed="rId3"/>
                <a:stretch>
                  <a:fillRect l="-986" t="-881" r="-1972" b="-17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67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80AEE2-0A60-4AB8-ACEB-7FCAD4579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57" y="2042262"/>
            <a:ext cx="5206178" cy="411251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16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71EE0-76CB-4472-B2CD-1B6F0D2D3C8C}"/>
              </a:ext>
            </a:extLst>
          </p:cNvPr>
          <p:cNvSpPr txBox="1"/>
          <p:nvPr/>
        </p:nvSpPr>
        <p:spPr>
          <a:xfrm>
            <a:off x="3139645" y="1376555"/>
            <a:ext cx="5912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Генетический алгоритм: отбор и результаты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AFE7D-2BBD-443F-8C3A-D1B8E821E7D9}"/>
              </a:ext>
            </a:extLst>
          </p:cNvPr>
          <p:cNvSpPr txBox="1"/>
          <p:nvPr/>
        </p:nvSpPr>
        <p:spPr>
          <a:xfrm>
            <a:off x="838200" y="2269469"/>
            <a:ext cx="497266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/>
              <a:t>После генерации популяции происходит расчёт аэродинамического качества и отбор двух лучших потомков.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/>
              <a:t>Процесс повторяется 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5</a:t>
            </a:r>
            <a:r>
              <a:rPr lang="ru-RU" sz="2000" dirty="0"/>
              <a:t> раз, затем происходит изменение параметров мутации - изменение стандартного отклонения, блокировка мутации некоторых компонентов генов.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/>
              <a:t>В одном поколении расчёт качества происходит 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320 </a:t>
            </a:r>
            <a:r>
              <a:rPr lang="ru-RU" sz="2000" dirty="0"/>
              <a:t>раз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3441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4C674C3-C69C-4396-B7D2-20A6E3437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109" y="1536779"/>
            <a:ext cx="6591781" cy="494383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17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71EE0-76CB-4472-B2CD-1B6F0D2D3C8C}"/>
              </a:ext>
            </a:extLst>
          </p:cNvPr>
          <p:cNvSpPr txBox="1"/>
          <p:nvPr/>
        </p:nvSpPr>
        <p:spPr>
          <a:xfrm>
            <a:off x="838200" y="1458009"/>
            <a:ext cx="10668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Генетический алгоритм: зависимость аэродинамического качества от угла атаки</a:t>
            </a:r>
          </a:p>
        </p:txBody>
      </p:sp>
    </p:spTree>
    <p:extLst>
      <p:ext uri="{BB962C8B-B14F-4D97-AF65-F5344CB8AC3E}">
        <p14:creationId xmlns:p14="http://schemas.microsoft.com/office/powerpoint/2010/main" val="3790006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18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Результаты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27EA7-39DC-489F-AAB0-02B516DE8A0C}"/>
              </a:ext>
            </a:extLst>
          </p:cNvPr>
          <p:cNvSpPr txBox="1"/>
          <p:nvPr/>
        </p:nvSpPr>
        <p:spPr>
          <a:xfrm>
            <a:off x="838199" y="1462120"/>
            <a:ext cx="105155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В процессе работы над проектом: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Освоено программное обеспечение </a:t>
            </a:r>
            <a:r>
              <a:rPr lang="en-US" sz="2400" dirty="0"/>
              <a:t>XFOIL</a:t>
            </a:r>
            <a:r>
              <a:rPr lang="ru-RU" sz="2400" dirty="0"/>
              <a:t> и протестирована его работа путем сравнения результатов, полученных из программы, с экспериментальными данными из авиационных атласов;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Разобран способ параметризации профиля с помощью кривых Безье;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Изучены библиотеки с готовыми методами оптимизации, выявлены их положительные и отрицательные стороны;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Реализованы некоторые методы оптимизации собственными силами.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E09AE-0C7E-448D-8F0B-922DCAC20904}"/>
              </a:ext>
            </a:extLst>
          </p:cNvPr>
          <p:cNvSpPr txBox="1"/>
          <p:nvPr/>
        </p:nvSpPr>
        <p:spPr>
          <a:xfrm>
            <a:off x="838197" y="4509108"/>
            <a:ext cx="97634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Итог:</a:t>
            </a:r>
          </a:p>
          <a:p>
            <a:r>
              <a:rPr lang="ru-RU" sz="2400" dirty="0"/>
              <a:t>Исследованы готовые методы оптимизации для функций, самостоятельно реализованы отдельные методы поиска глобального минимума, проанализировано применение методов к поставленной задаче, а также выявлены векторы дальнейшей работы над проектом.</a:t>
            </a:r>
          </a:p>
        </p:txBody>
      </p:sp>
    </p:spTree>
    <p:extLst>
      <p:ext uri="{BB962C8B-B14F-4D97-AF65-F5344CB8AC3E}">
        <p14:creationId xmlns:p14="http://schemas.microsoft.com/office/powerpoint/2010/main" val="1165586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19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Деятельность участников в проекте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4C3E8D-90FD-4377-B0E2-28C28795BE17}"/>
              </a:ext>
            </a:extLst>
          </p:cNvPr>
          <p:cNvSpPr txBox="1"/>
          <p:nvPr/>
        </p:nvSpPr>
        <p:spPr>
          <a:xfrm>
            <a:off x="1572886" y="1958074"/>
            <a:ext cx="90462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В. Кожевникова </a:t>
            </a:r>
            <a:r>
              <a:rPr lang="ru-RU" sz="2400" dirty="0"/>
              <a:t>– руководство и организационные вопросы, параметризация профиля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М. Макаров </a:t>
            </a:r>
            <a:r>
              <a:rPr lang="ru-RU" sz="2400" dirty="0"/>
              <a:t>– изучение </a:t>
            </a:r>
            <a:r>
              <a:rPr lang="en-US" sz="2400" dirty="0"/>
              <a:t>XFOIL</a:t>
            </a:r>
            <a:r>
              <a:rPr lang="ru-RU" sz="2400" dirty="0"/>
              <a:t>, сравнение методов оптимизации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Д. Санин </a:t>
            </a:r>
            <a:r>
              <a:rPr lang="ru-RU" sz="2400" dirty="0"/>
              <a:t>– изучение методов оптимизации, оформление проекта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К. Медведев </a:t>
            </a:r>
            <a:r>
              <a:rPr lang="ru-RU" sz="2400" dirty="0"/>
              <a:t>– разработка генетического алгоритма, параметризация профиля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Н. Юрченко </a:t>
            </a:r>
            <a:r>
              <a:rPr lang="ru-RU" sz="2400" dirty="0"/>
              <a:t>– разработка глобального метода статистических градиентов, работа с </a:t>
            </a:r>
            <a:r>
              <a:rPr lang="en-US" sz="2400" dirty="0"/>
              <a:t>XFOIL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Б. </a:t>
            </a:r>
            <a:r>
              <a:rPr lang="ru-RU" sz="2400" b="1" dirty="0" err="1">
                <a:solidFill>
                  <a:schemeClr val="accent6">
                    <a:lumMod val="50000"/>
                  </a:schemeClr>
                </a:solidFill>
              </a:rPr>
              <a:t>Старжинский</a:t>
            </a: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ru-RU" sz="2400" dirty="0"/>
              <a:t>– проведение тестов</a:t>
            </a:r>
          </a:p>
        </p:txBody>
      </p:sp>
    </p:spTree>
    <p:extLst>
      <p:ext uri="{BB962C8B-B14F-4D97-AF65-F5344CB8AC3E}">
        <p14:creationId xmlns:p14="http://schemas.microsoft.com/office/powerpoint/2010/main" val="20156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A27A76A1-8104-4D6E-A936-91C28F69C495}"/>
              </a:ext>
            </a:extLst>
          </p:cNvPr>
          <p:cNvCxnSpPr>
            <a:cxnSpLocks/>
          </p:cNvCxnSpPr>
          <p:nvPr/>
        </p:nvCxnSpPr>
        <p:spPr>
          <a:xfrm>
            <a:off x="2270978" y="3731343"/>
            <a:ext cx="7650043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5C056-984A-4266-86DE-066047956F0E}"/>
              </a:ext>
            </a:extLst>
          </p:cNvPr>
          <p:cNvSpPr txBox="1"/>
          <p:nvPr/>
        </p:nvSpPr>
        <p:spPr>
          <a:xfrm>
            <a:off x="2270978" y="2967335"/>
            <a:ext cx="76500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/>
              <a:t>Благодарим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065138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4DEED-AB3F-4740-BCEF-E5D225C9B0FB}"/>
              </a:ext>
            </a:extLst>
          </p:cNvPr>
          <p:cNvSpPr/>
          <p:nvPr/>
        </p:nvSpPr>
        <p:spPr>
          <a:xfrm>
            <a:off x="0" y="0"/>
            <a:ext cx="12192000" cy="1202974"/>
          </a:xfrm>
          <a:prstGeom prst="rect">
            <a:avLst/>
          </a:prstGeom>
          <a:gradFill>
            <a:gsLst>
              <a:gs pos="100000">
                <a:schemeClr val="accent6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  <a:effectLst>
            <a:reflection stA="0" endPos="64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C4D3FEC4-63D1-45CB-A235-2919865B160F}"/>
              </a:ext>
            </a:extLst>
          </p:cNvPr>
          <p:cNvSpPr/>
          <p:nvPr/>
        </p:nvSpPr>
        <p:spPr>
          <a:xfrm>
            <a:off x="11017045" y="5751870"/>
            <a:ext cx="811161" cy="811161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62D34-42C0-4A2E-A627-9BF2DC0FA806}"/>
              </a:ext>
            </a:extLst>
          </p:cNvPr>
          <p:cNvSpPr txBox="1"/>
          <p:nvPr/>
        </p:nvSpPr>
        <p:spPr>
          <a:xfrm>
            <a:off x="11096253" y="583428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21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50C484-CF2D-42D7-8315-419FA0BE3AC6}"/>
              </a:ext>
            </a:extLst>
          </p:cNvPr>
          <p:cNvSpPr txBox="1">
            <a:spLocks/>
          </p:cNvSpPr>
          <p:nvPr/>
        </p:nvSpPr>
        <p:spPr>
          <a:xfrm>
            <a:off x="838200" y="255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Список литературы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C6AB9-877F-44E0-A481-A9CF5300A3CE}"/>
              </a:ext>
            </a:extLst>
          </p:cNvPr>
          <p:cNvSpPr txBox="1"/>
          <p:nvPr/>
        </p:nvSpPr>
        <p:spPr>
          <a:xfrm>
            <a:off x="1087694" y="1835633"/>
            <a:ext cx="102661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1. Справочник </a:t>
            </a:r>
            <a:r>
              <a:rPr lang="ru-RU" dirty="0">
                <a:solidFill>
                  <a:srgbClr val="000000"/>
                </a:solidFill>
                <a:latin typeface="Roboto"/>
              </a:rPr>
              <a:t>А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виационных Профилей</a:t>
            </a:r>
          </a:p>
          <a:p>
            <a:br>
              <a:rPr lang="en-US" dirty="0">
                <a:solidFill>
                  <a:srgbClr val="000000"/>
                </a:solidFill>
                <a:latin typeface="Roboto"/>
              </a:rPr>
            </a:br>
            <a:r>
              <a:rPr lang="ru-RU" dirty="0">
                <a:solidFill>
                  <a:srgbClr val="000000"/>
                </a:solidFill>
                <a:latin typeface="Roboto"/>
              </a:rPr>
              <a:t>2. </a:t>
            </a:r>
            <a:r>
              <a:rPr lang="en-US" dirty="0">
                <a:solidFill>
                  <a:srgbClr val="000000"/>
                </a:solidFill>
                <a:latin typeface="Roboto"/>
              </a:rPr>
              <a:t>Williamson, G.A., </a:t>
            </a:r>
            <a:r>
              <a:rPr lang="en-US" dirty="0" err="1">
                <a:solidFill>
                  <a:srgbClr val="000000"/>
                </a:solidFill>
                <a:latin typeface="Roboto"/>
              </a:rPr>
              <a:t>McGranahan</a:t>
            </a:r>
            <a:r>
              <a:rPr lang="en-US" dirty="0">
                <a:solidFill>
                  <a:srgbClr val="000000"/>
                </a:solidFill>
                <a:latin typeface="Roboto"/>
              </a:rPr>
              <a:t>, B.D, Broughton, B.A., Deters, R.W., Brandt, J.B.,</a:t>
            </a:r>
            <a:br>
              <a:rPr lang="en-US" dirty="0">
                <a:solidFill>
                  <a:srgbClr val="000000"/>
                </a:solidFill>
                <a:latin typeface="Roboto"/>
              </a:rPr>
            </a:br>
            <a:r>
              <a:rPr lang="en-US" dirty="0">
                <a:solidFill>
                  <a:srgbClr val="000000"/>
                </a:solidFill>
                <a:latin typeface="Roboto"/>
              </a:rPr>
              <a:t>                and Selig, M.S., Summary of Low-Speed Airfoil Data, Vol 5, 2012, 363 pages. Airfoils: AG12, AG16, AG24, AG35-r,</a:t>
            </a:r>
            <a:br>
              <a:rPr lang="en-US" dirty="0">
                <a:solidFill>
                  <a:srgbClr val="000000"/>
                </a:solidFill>
                <a:latin typeface="Roboto"/>
              </a:rPr>
            </a:br>
            <a:r>
              <a:rPr lang="en-US" dirty="0">
                <a:solidFill>
                  <a:srgbClr val="000000"/>
                </a:solidFill>
                <a:latin typeface="Roboto"/>
              </a:rPr>
              <a:t>                AG40d-02r with flap, AG455ct-02r with flap, CAL1215j, CAL2263m, CAL4014l, E387, flat plate airfoil with various leading-edge treatments, MA409, NACA 43012A, S1223 with</a:t>
            </a:r>
            <a:br>
              <a:rPr lang="en-US" dirty="0">
                <a:solidFill>
                  <a:srgbClr val="000000"/>
                </a:solidFill>
                <a:latin typeface="Roboto"/>
              </a:rPr>
            </a:br>
            <a:r>
              <a:rPr lang="en-US" dirty="0">
                <a:solidFill>
                  <a:srgbClr val="000000"/>
                </a:solidFill>
                <a:latin typeface="Roboto"/>
              </a:rPr>
              <a:t>                Gurney flap, S8064, and S9000 with flap.</a:t>
            </a:r>
            <a:endParaRPr lang="ru-RU" dirty="0">
              <a:solidFill>
                <a:srgbClr val="000000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289480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1021</Words>
  <Application>Microsoft Office PowerPoint</Application>
  <PresentationFormat>Широкоэкранный</PresentationFormat>
  <Paragraphs>135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Roboto</vt:lpstr>
      <vt:lpstr>Wingdings</vt:lpstr>
      <vt:lpstr>Тема Office</vt:lpstr>
      <vt:lpstr>Оптимизация аэродинамического профиля</vt:lpstr>
      <vt:lpstr>Аэродинамический профиль</vt:lpstr>
      <vt:lpstr>Цель и задачи проекта</vt:lpstr>
      <vt:lpstr>XFOIL и работа с ним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Оптимизация аэродинамического профиля</dc:title>
  <dc:creator>Таисия К</dc:creator>
  <cp:lastModifiedBy>Медведев Кирилл Максимович</cp:lastModifiedBy>
  <cp:revision>28</cp:revision>
  <dcterms:created xsi:type="dcterms:W3CDTF">2024-05-07T17:22:30Z</dcterms:created>
  <dcterms:modified xsi:type="dcterms:W3CDTF">2026-03-29T18:54:47Z</dcterms:modified>
</cp:coreProperties>
</file>